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91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2794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0"/>
          </a:xfrm>
          <a:prstGeom prst="line">
            <a:avLst/>
          </a:prstGeom>
          <a:noFill/>
          <a:ln w="2794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64373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B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Aprendiendo con @LaProfeVivy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5CAD"/>
                </a:solidFill>
              </a:rPr>
              <a:t>AppSheet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66928" y="118872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0A2A43"/>
                </a:solidFill>
              </a:rPr>
              <a:t>Presupuesto familiar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3504" y="190195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App para </a:t>
            </a:r>
            <a:r>
              <a:rPr lang="en-US" sz="1650" dirty="0" err="1">
                <a:solidFill>
                  <a:srgbClr val="102A43"/>
                </a:solidFill>
              </a:rPr>
              <a:t>gestionar</a:t>
            </a:r>
            <a:r>
              <a:rPr lang="en-US" sz="1650" dirty="0">
                <a:solidFill>
                  <a:srgbClr val="102A43"/>
                </a:solidFill>
              </a:rPr>
              <a:t>  ingresos y gastos, ver consumo mensual y </a:t>
            </a:r>
            <a:r>
              <a:rPr lang="en-US" sz="1650" dirty="0" err="1">
                <a:solidFill>
                  <a:srgbClr val="102A43"/>
                </a:solidFill>
              </a:rPr>
              <a:t>compartirla</a:t>
            </a:r>
            <a:r>
              <a:rPr lang="en-US" sz="1650" dirty="0">
                <a:solidFill>
                  <a:srgbClr val="102A43"/>
                </a:solidFill>
              </a:rPr>
              <a:t> con dos usuarios.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001000" y="1965960"/>
            <a:ext cx="3017520" cy="914400"/>
          </a:xfrm>
          <a:prstGeom prst="rect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App + BD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10761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</a:rPr>
              <a:t>Requiero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</a:rPr>
              <a:t>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</a:rPr>
              <a:t>tener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</a:rPr>
              <a:t> control de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</a:rPr>
              <a:t>todo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</a:rPr>
              <a:t>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</a:rPr>
              <a:t>los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</a:rPr>
              <a:t>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</a:rPr>
              <a:t>ingresos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</a:rPr>
              <a:t> y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</a:rPr>
              <a:t>gastos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41248" y="2063364"/>
            <a:ext cx="3657600" cy="42672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 quiero responder…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8848" y="2063364"/>
            <a:ext cx="3200400" cy="42672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Necesito esta columna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99248" y="2063364"/>
            <a:ext cx="3657600" cy="42672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Ejemplo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49008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¿Cuándo ocurrió?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8848" y="2490084"/>
            <a:ext cx="32004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Fecha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99248" y="249008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08/09/2026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291680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¿Fue ingreso o gasto?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8848" y="2916804"/>
            <a:ext cx="32004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Tipo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99248" y="291680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Gasto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34352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¿A </a:t>
            </a:r>
            <a:r>
              <a:rPr lang="en-US" sz="1200" dirty="0" err="1">
                <a:solidFill>
                  <a:srgbClr val="102A43"/>
                </a:solidFill>
              </a:rPr>
              <a:t>qué</a:t>
            </a:r>
            <a:r>
              <a:rPr lang="en-US" sz="1200" dirty="0">
                <a:solidFill>
                  <a:srgbClr val="102A43"/>
                </a:solidFill>
              </a:rPr>
              <a:t> </a:t>
            </a:r>
            <a:r>
              <a:rPr lang="en-US" sz="1200" dirty="0" err="1">
                <a:solidFill>
                  <a:srgbClr val="102A43"/>
                </a:solidFill>
              </a:rPr>
              <a:t>pertenece</a:t>
            </a:r>
            <a:r>
              <a:rPr lang="en-US" sz="1200" dirty="0">
                <a:solidFill>
                  <a:srgbClr val="102A43"/>
                </a:solidFill>
              </a:rPr>
              <a:t>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98848" y="3343524"/>
            <a:ext cx="32004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Categoría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99248" y="334352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Gatita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377024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¿Qué fue exactamente?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98848" y="3770244"/>
            <a:ext cx="32004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Concepto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699248" y="377024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Arena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419696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¿Cuánto valió?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98848" y="4196964"/>
            <a:ext cx="32004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Valor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699248" y="4196964"/>
            <a:ext cx="365760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$45.000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 “movimiento” en la app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A2A43"/>
                </a:solidFill>
              </a:rPr>
              <a:t>Movimiento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1719072"/>
            <a:ext cx="47548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Un movimiento es el </a:t>
            </a:r>
            <a:r>
              <a:rPr lang="en-US" sz="1700" dirty="0" err="1">
                <a:solidFill>
                  <a:srgbClr val="102A43"/>
                </a:solidFill>
              </a:rPr>
              <a:t>registro</a:t>
            </a:r>
            <a:r>
              <a:rPr lang="en-US" sz="1700" dirty="0">
                <a:solidFill>
                  <a:srgbClr val="102A43"/>
                </a:solidFill>
              </a:rPr>
              <a:t> de </a:t>
            </a:r>
            <a:r>
              <a:rPr lang="en-US" sz="1700" dirty="0" err="1">
                <a:solidFill>
                  <a:srgbClr val="102A43"/>
                </a:solidFill>
              </a:rPr>
              <a:t>cada</a:t>
            </a:r>
            <a:r>
              <a:rPr lang="en-US" sz="1700" dirty="0">
                <a:solidFill>
                  <a:srgbClr val="102A43"/>
                </a:solidFill>
              </a:rPr>
              <a:t> </a:t>
            </a:r>
            <a:r>
              <a:rPr lang="en-US" sz="1700" dirty="0" err="1">
                <a:solidFill>
                  <a:srgbClr val="102A43"/>
                </a:solidFill>
              </a:rPr>
              <a:t>evento</a:t>
            </a:r>
            <a:r>
              <a:rPr lang="en-US" sz="1700" dirty="0">
                <a:solidFill>
                  <a:srgbClr val="102A43"/>
                </a:solidFill>
              </a:rPr>
              <a:t>, </a:t>
            </a:r>
            <a:r>
              <a:rPr lang="en-US" sz="1700" dirty="0" err="1">
                <a:solidFill>
                  <a:srgbClr val="102A43"/>
                </a:solidFill>
              </a:rPr>
              <a:t>en</a:t>
            </a:r>
            <a:r>
              <a:rPr lang="en-US" sz="1700" dirty="0">
                <a:solidFill>
                  <a:srgbClr val="102A43"/>
                </a:solidFill>
              </a:rPr>
              <a:t> </a:t>
            </a:r>
            <a:r>
              <a:rPr lang="en-US" sz="1700" dirty="0" err="1">
                <a:solidFill>
                  <a:srgbClr val="102A43"/>
                </a:solidFill>
              </a:rPr>
              <a:t>este</a:t>
            </a:r>
            <a:r>
              <a:rPr lang="en-US" sz="1700" dirty="0">
                <a:solidFill>
                  <a:srgbClr val="102A43"/>
                </a:solidFill>
              </a:rPr>
              <a:t> </a:t>
            </a:r>
            <a:r>
              <a:rPr lang="en-US" sz="1700" dirty="0" err="1">
                <a:solidFill>
                  <a:srgbClr val="102A43"/>
                </a:solidFill>
              </a:rPr>
              <a:t>caso</a:t>
            </a:r>
            <a:r>
              <a:rPr lang="en-US" sz="1700" dirty="0">
                <a:solidFill>
                  <a:srgbClr val="102A43"/>
                </a:solidFill>
              </a:rPr>
              <a:t> que afecta el presupuesto: un gasto, una entrada, un ahorro apartado o un imprevisto.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12344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537960" y="13716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A2A43"/>
                </a:solidFill>
              </a:rPr>
              <a:t>Formulario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1719072"/>
            <a:ext cx="475488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El formulario es la pantalla donde se </a:t>
            </a:r>
            <a:r>
              <a:rPr lang="en-US" sz="1650" dirty="0" err="1">
                <a:solidFill>
                  <a:srgbClr val="102A43"/>
                </a:solidFill>
              </a:rPr>
              <a:t>ingresa</a:t>
            </a:r>
            <a:r>
              <a:rPr lang="en-US" sz="1650" dirty="0">
                <a:solidFill>
                  <a:srgbClr val="102A43"/>
                </a:solidFill>
              </a:rPr>
              <a:t> el movimiento. </a:t>
            </a:r>
          </a:p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Al guardar, AppSheet crea una fila nueva en Google Sheets.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27760" y="3383280"/>
            <a:ext cx="1828800" cy="40005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Fecha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956560" y="3383280"/>
            <a:ext cx="1737360" cy="40005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Tipo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693920" y="3383280"/>
            <a:ext cx="2468880" cy="40005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Categoría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132320" y="3383280"/>
            <a:ext cx="2468880" cy="40005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Concepto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601200" y="3383280"/>
            <a:ext cx="1463040" cy="40005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Valor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097280" y="3783330"/>
            <a:ext cx="1828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Hoy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926080" y="3783330"/>
            <a:ext cx="173736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Gasto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663440" y="3783330"/>
            <a:ext cx="246888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Gatita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132320" y="3783330"/>
            <a:ext cx="246888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Arena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601200" y="3783330"/>
            <a:ext cx="146304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$45.000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097280" y="4183380"/>
            <a:ext cx="1828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Hoy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926080" y="4183380"/>
            <a:ext cx="173736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Entrada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663440" y="4183380"/>
            <a:ext cx="246888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Entradas adicionales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132320" y="4183380"/>
            <a:ext cx="246888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Clase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601200" y="4183380"/>
            <a:ext cx="146304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$250.000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097280" y="4583430"/>
            <a:ext cx="1828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Hoy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2926080" y="4583430"/>
            <a:ext cx="173736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Gasto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4663440" y="4583430"/>
            <a:ext cx="246888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Casa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132320" y="4583430"/>
            <a:ext cx="246888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Arriendo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601200" y="4583430"/>
            <a:ext cx="146304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$1.200.000</a:t>
            </a:r>
            <a:endParaRPr lang="en-US" sz="12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son las categorías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Cómo se piensan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604772"/>
            <a:ext cx="4911918" cy="10469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r>
              <a:rPr lang="es-CO" sz="1600" dirty="0">
                <a:solidFill>
                  <a:srgbClr val="102A43"/>
                </a:solidFill>
              </a:rPr>
              <a:t>Es una columna que se crea para clasificar el registro.</a:t>
            </a:r>
          </a:p>
          <a:p>
            <a:endParaRPr lang="es-CO" sz="1600" dirty="0"/>
          </a:p>
          <a:p>
            <a:r>
              <a:rPr lang="es-CO" sz="1600" dirty="0"/>
              <a:t>S</a:t>
            </a:r>
            <a:r>
              <a:rPr lang="en-US" sz="1600" dirty="0">
                <a:solidFill>
                  <a:srgbClr val="102A43"/>
                </a:solidFill>
              </a:rPr>
              <a:t>e eligen según lo </a:t>
            </a:r>
            <a:r>
              <a:rPr lang="en-US" sz="1600" dirty="0" err="1">
                <a:solidFill>
                  <a:srgbClr val="102A43"/>
                </a:solidFill>
              </a:rPr>
              <a:t>que</a:t>
            </a:r>
            <a:r>
              <a:rPr lang="en-US" sz="1600" dirty="0">
                <a:solidFill>
                  <a:srgbClr val="102A43"/>
                </a:solidFill>
              </a:rPr>
              <a:t>  se </a:t>
            </a:r>
            <a:r>
              <a:rPr lang="en-US" sz="1600" dirty="0" err="1">
                <a:solidFill>
                  <a:srgbClr val="102A43"/>
                </a:solidFill>
              </a:rPr>
              <a:t>quiere</a:t>
            </a:r>
            <a:r>
              <a:rPr lang="en-US" sz="1600" dirty="0">
                <a:solidFill>
                  <a:srgbClr val="102A43"/>
                </a:solidFill>
              </a:rPr>
              <a:t> analizar después en el </a:t>
            </a:r>
            <a:r>
              <a:rPr lang="en-US" sz="1600" dirty="0" err="1">
                <a:solidFill>
                  <a:srgbClr val="102A43"/>
                </a:solidFill>
              </a:rPr>
              <a:t>gráfico</a:t>
            </a:r>
            <a:r>
              <a:rPr lang="en-US" sz="1600" dirty="0">
                <a:solidFill>
                  <a:srgbClr val="102A43"/>
                </a:solidFill>
              </a:rPr>
              <a:t>.</a:t>
            </a:r>
          </a:p>
          <a:p>
            <a:r>
              <a:rPr lang="en-US" sz="1600" dirty="0">
                <a:solidFill>
                  <a:srgbClr val="102A43"/>
                </a:solidFill>
              </a:rPr>
              <a:t> </a:t>
            </a:r>
          </a:p>
          <a:p>
            <a:r>
              <a:rPr lang="en-US" sz="1600" dirty="0">
                <a:solidFill>
                  <a:srgbClr val="102A43"/>
                </a:solidFill>
              </a:rPr>
              <a:t>Para saber </a:t>
            </a:r>
            <a:r>
              <a:rPr lang="en-US" sz="1600" dirty="0" err="1">
                <a:solidFill>
                  <a:srgbClr val="102A43"/>
                </a:solidFill>
              </a:rPr>
              <a:t>cuánto</a:t>
            </a:r>
            <a:r>
              <a:rPr lang="en-US" sz="1600" dirty="0">
                <a:solidFill>
                  <a:srgbClr val="102A43"/>
                </a:solidFill>
              </a:rPr>
              <a:t> se consume de </a:t>
            </a:r>
            <a:r>
              <a:rPr lang="en-US" sz="1600" dirty="0" err="1">
                <a:solidFill>
                  <a:srgbClr val="102A43"/>
                </a:solidFill>
              </a:rPr>
              <a:t>servicios</a:t>
            </a:r>
            <a:r>
              <a:rPr lang="en-US" sz="1600" dirty="0">
                <a:solidFill>
                  <a:srgbClr val="102A43"/>
                </a:solidFill>
              </a:rPr>
              <a:t>, </a:t>
            </a:r>
            <a:r>
              <a:rPr lang="en-US" sz="1600" dirty="0" err="1">
                <a:solidFill>
                  <a:srgbClr val="102A43"/>
                </a:solidFill>
              </a:rPr>
              <a:t>esa</a:t>
            </a:r>
            <a:r>
              <a:rPr lang="en-US" sz="1600" dirty="0">
                <a:solidFill>
                  <a:srgbClr val="102A43"/>
                </a:solidFill>
              </a:rPr>
              <a:t> es </a:t>
            </a:r>
            <a:r>
              <a:rPr lang="en-US" sz="1600" dirty="0" err="1">
                <a:solidFill>
                  <a:srgbClr val="102A43"/>
                </a:solidFill>
              </a:rPr>
              <a:t>una</a:t>
            </a:r>
            <a:r>
              <a:rPr lang="en-US" sz="1600" dirty="0">
                <a:solidFill>
                  <a:srgbClr val="102A43"/>
                </a:solidFill>
              </a:rPr>
              <a:t> </a:t>
            </a:r>
            <a:r>
              <a:rPr lang="en-US" sz="1600" dirty="0" err="1">
                <a:solidFill>
                  <a:srgbClr val="102A43"/>
                </a:solidFill>
              </a:rPr>
              <a:t>categoría</a:t>
            </a:r>
            <a:r>
              <a:rPr lang="en-US" sz="1600" dirty="0">
                <a:solidFill>
                  <a:srgbClr val="102A43"/>
                </a:solidFill>
              </a:rPr>
              <a:t> </a:t>
            </a:r>
            <a:r>
              <a:rPr lang="en-US" sz="1600" dirty="0" err="1">
                <a:solidFill>
                  <a:srgbClr val="102A43"/>
                </a:solidFill>
              </a:rPr>
              <a:t>otra</a:t>
            </a:r>
            <a:r>
              <a:rPr lang="en-US" sz="1600" dirty="0">
                <a:solidFill>
                  <a:srgbClr val="102A43"/>
                </a:solidFill>
              </a:rPr>
              <a:t> </a:t>
            </a:r>
            <a:r>
              <a:rPr lang="en-US" sz="1600" dirty="0" err="1">
                <a:solidFill>
                  <a:srgbClr val="102A43"/>
                </a:solidFill>
              </a:rPr>
              <a:t>si</a:t>
            </a:r>
            <a:r>
              <a:rPr lang="en-US" sz="1600" dirty="0">
                <a:solidFill>
                  <a:srgbClr val="102A43"/>
                </a:solidFill>
              </a:rPr>
              <a:t> se  </a:t>
            </a:r>
            <a:r>
              <a:rPr lang="en-US" sz="1600" dirty="0" err="1">
                <a:solidFill>
                  <a:srgbClr val="102A43"/>
                </a:solidFill>
              </a:rPr>
              <a:t>separa</a:t>
            </a:r>
            <a:r>
              <a:rPr lang="en-US" sz="1600" dirty="0">
                <a:solidFill>
                  <a:srgbClr val="102A43"/>
                </a:solidFill>
              </a:rPr>
              <a:t> </a:t>
            </a:r>
            <a:r>
              <a:rPr lang="en-US" sz="1600" dirty="0" err="1">
                <a:solidFill>
                  <a:srgbClr val="102A43"/>
                </a:solidFill>
              </a:rPr>
              <a:t>mascotas</a:t>
            </a:r>
            <a:r>
              <a:rPr lang="en-US" sz="1600" dirty="0">
                <a:solidFill>
                  <a:srgbClr val="102A43"/>
                </a:solidFill>
              </a:rPr>
              <a:t> “Gatita” y “Perrita”.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Para este ejercicio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627632"/>
            <a:ext cx="489204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Mamá · Hija · Perrita · Gatita · Casa · Urgencias · Ahorros · Imprevistos · Gustos · Entradas adicionales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46888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Categoría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3337560"/>
            <a:ext cx="292608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3337560"/>
            <a:ext cx="502920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Interpretación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30752"/>
            <a:ext cx="2468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Casa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730752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Mercado semanal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730752"/>
            <a:ext cx="5029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Gasto de hogar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23944"/>
            <a:ext cx="2468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Gatita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4123944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Arena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123944"/>
            <a:ext cx="5029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Gasto de mascota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517136"/>
            <a:ext cx="2468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Perrita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517136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Concentrado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4517136"/>
            <a:ext cx="5029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Gasto de mascota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910328"/>
            <a:ext cx="2468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Entradas adicionales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910328"/>
            <a:ext cx="29260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Clase extra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4910328"/>
            <a:ext cx="5029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02A43"/>
                </a:solidFill>
              </a:rPr>
              <a:t>Dinero que entra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Crear la base en Google Sheets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96112" y="12801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2A43"/>
                </a:solidFill>
              </a:rPr>
              <a:t>Archivo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306324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Presupuesto Familiar BD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" y="2514600"/>
            <a:ext cx="2816352" cy="44577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Columna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58668" y="2514600"/>
            <a:ext cx="5532120" cy="44577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Uso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39328" y="2514600"/>
            <a:ext cx="3246120" cy="44577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Tipo en AppSheet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296037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ID_Movimiento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58668" y="296037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Identificador automático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39328" y="296037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Text / Key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" y="340614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Fecha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58668" y="340614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Día del registro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39328" y="340614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Date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" y="385191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Registrado_por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58668" y="385191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Correo de quien ingresó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39328" y="385191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Email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" y="429768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Tipo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58668" y="429768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Gasto o entrada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39328" y="429768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Enum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" y="474345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Categoria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58668" y="474345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Bolsa de análisis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39328" y="474345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Enum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" y="518922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Concepto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58668" y="518922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Detalle del gasto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39328" y="518922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Enum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" y="5634990"/>
            <a:ext cx="2816352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Valor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58668" y="5634990"/>
            <a:ext cx="5532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Dinero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339328" y="5634990"/>
            <a:ext cx="3246120" cy="44577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2A43"/>
                </a:solidFill>
              </a:rPr>
              <a:t>Price</a:t>
            </a:r>
            <a:endParaRPr lang="en-US" sz="10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Crear la app desde la hoja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87552" y="143560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87552" y="150418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481328" y="142646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En Google Sheets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81328" y="1792224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Extensiones → AppSheet → Crear una aplicación.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473952" y="143560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73952" y="150418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67728" y="1426464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En AppSheet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67728" y="1792224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Confirmar que la tabla se llama Movimientos.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58820" y="3081528"/>
            <a:ext cx="10364525" cy="2807970"/>
          </a:xfrm>
          <a:prstGeom prst="roundRect">
            <a:avLst>
              <a:gd name="adj" fmla="val 3902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5" name="Text 13"/>
          <p:cNvSpPr/>
          <p:nvPr/>
        </p:nvSpPr>
        <p:spPr>
          <a:xfrm>
            <a:off x="987552" y="2538603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0A2A43"/>
                </a:solidFill>
              </a:rPr>
              <a:t>Revisar</a:t>
            </a:r>
            <a:r>
              <a:rPr lang="en-US" sz="1900" b="1" dirty="0">
                <a:solidFill>
                  <a:srgbClr val="0A2A43"/>
                </a:solidFill>
              </a:rPr>
              <a:t> </a:t>
            </a:r>
            <a:r>
              <a:rPr lang="en-US" sz="1900" b="1" dirty="0" err="1">
                <a:solidFill>
                  <a:srgbClr val="0A2A43"/>
                </a:solidFill>
              </a:rPr>
              <a:t>secciones</a:t>
            </a:r>
            <a:r>
              <a:rPr lang="en-US" sz="1900" b="1" dirty="0">
                <a:solidFill>
                  <a:srgbClr val="0A2A43"/>
                </a:solidFill>
              </a:rPr>
              <a:t> 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22351" y="3456432"/>
            <a:ext cx="10178465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02A43"/>
                </a:solidFill>
              </a:rPr>
              <a:t>Data</a:t>
            </a:r>
            <a:r>
              <a:rPr lang="en-US" dirty="0">
                <a:solidFill>
                  <a:srgbClr val="102A43"/>
                </a:solidFill>
              </a:rPr>
              <a:t>: Define </a:t>
            </a:r>
            <a:r>
              <a:rPr lang="en-US" dirty="0" err="1">
                <a:solidFill>
                  <a:srgbClr val="102A43"/>
                </a:solidFill>
              </a:rPr>
              <a:t>los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datos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en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Tablas</a:t>
            </a:r>
            <a:r>
              <a:rPr lang="en-US" dirty="0">
                <a:solidFill>
                  <a:srgbClr val="102A43"/>
                </a:solidFill>
              </a:rPr>
              <a:t>, Columnas y </a:t>
            </a:r>
            <a:r>
              <a:rPr lang="en-US" dirty="0" err="1">
                <a:solidFill>
                  <a:srgbClr val="102A43"/>
                </a:solidFill>
              </a:rPr>
              <a:t>Tipos</a:t>
            </a:r>
            <a:r>
              <a:rPr lang="en-US" dirty="0">
                <a:solidFill>
                  <a:srgbClr val="102A43"/>
                </a:solidFill>
              </a:rPr>
              <a:t> de Datos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C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Ej.: Fecha = Date, Valor = Price, Categoría = </a:t>
            </a:r>
            <a:r>
              <a:rPr lang="es-C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Enum</a:t>
            </a:r>
            <a:r>
              <a:rPr lang="es-C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02A43"/>
                </a:solidFill>
              </a:rPr>
              <a:t>App / Views: </a:t>
            </a:r>
            <a:r>
              <a:rPr lang="en-US" dirty="0">
                <a:solidFill>
                  <a:srgbClr val="102A43"/>
                </a:solidFill>
              </a:rPr>
              <a:t>Define las </a:t>
            </a:r>
            <a:r>
              <a:rPr lang="en-US" dirty="0" err="1">
                <a:solidFill>
                  <a:srgbClr val="102A43"/>
                </a:solidFill>
              </a:rPr>
              <a:t>pantallas</a:t>
            </a:r>
            <a:r>
              <a:rPr lang="en-US" dirty="0">
                <a:solidFill>
                  <a:srgbClr val="102A43"/>
                </a:solidFill>
              </a:rPr>
              <a:t>, el </a:t>
            </a:r>
            <a:r>
              <a:rPr lang="en-US" dirty="0" err="1">
                <a:solidFill>
                  <a:srgbClr val="102A43"/>
                </a:solidFill>
              </a:rPr>
              <a:t>cómo</a:t>
            </a:r>
            <a:r>
              <a:rPr lang="en-US" dirty="0">
                <a:solidFill>
                  <a:srgbClr val="102A43"/>
                </a:solidFill>
              </a:rPr>
              <a:t> se </a:t>
            </a:r>
            <a:r>
              <a:rPr lang="en-US" dirty="0" err="1">
                <a:solidFill>
                  <a:srgbClr val="102A43"/>
                </a:solidFill>
              </a:rPr>
              <a:t>verá</a:t>
            </a:r>
            <a:r>
              <a:rPr lang="en-US" dirty="0">
                <a:solidFill>
                  <a:srgbClr val="102A43"/>
                </a:solidFill>
              </a:rPr>
              <a:t> la </a:t>
            </a:r>
            <a:r>
              <a:rPr lang="en-US" dirty="0" err="1">
                <a:solidFill>
                  <a:srgbClr val="102A43"/>
                </a:solidFill>
              </a:rPr>
              <a:t>información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C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Ej.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Formulario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tabla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gráfico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en-US" dirty="0">
                <a:solidFill>
                  <a:srgbClr val="102A43"/>
                </a:solidFill>
              </a:rPr>
              <a:t>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02A43"/>
                </a:solidFill>
              </a:rPr>
              <a:t>Behavior / Actions: </a:t>
            </a:r>
            <a:r>
              <a:rPr lang="en-US" dirty="0">
                <a:solidFill>
                  <a:srgbClr val="102A43"/>
                </a:solidFill>
              </a:rPr>
              <a:t>Define </a:t>
            </a:r>
            <a:r>
              <a:rPr lang="en-US" dirty="0" err="1">
                <a:solidFill>
                  <a:srgbClr val="102A43"/>
                </a:solidFill>
              </a:rPr>
              <a:t>que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puede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hacer</a:t>
            </a:r>
            <a:r>
              <a:rPr lang="en-US" dirty="0">
                <a:solidFill>
                  <a:srgbClr val="102A43"/>
                </a:solidFill>
              </a:rPr>
              <a:t> el </a:t>
            </a:r>
            <a:r>
              <a:rPr lang="en-US" dirty="0" err="1">
                <a:solidFill>
                  <a:srgbClr val="102A43"/>
                </a:solidFill>
              </a:rPr>
              <a:t>usuario</a:t>
            </a:r>
            <a:r>
              <a:rPr lang="en-US" dirty="0">
                <a:solidFill>
                  <a:srgbClr val="102A43"/>
                </a:solidFill>
              </a:rPr>
              <a:t> al </a:t>
            </a:r>
            <a:r>
              <a:rPr lang="en-US" dirty="0" err="1">
                <a:solidFill>
                  <a:srgbClr val="102A43"/>
                </a:solidFill>
              </a:rPr>
              <a:t>crear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acciones</a:t>
            </a:r>
            <a:r>
              <a:rPr lang="en-US" dirty="0">
                <a:solidFill>
                  <a:srgbClr val="102A43"/>
                </a:solidFill>
              </a:rPr>
              <a:t> y </a:t>
            </a:r>
            <a:r>
              <a:rPr lang="en-US" dirty="0" err="1">
                <a:solidFill>
                  <a:srgbClr val="102A43"/>
                </a:solidFill>
              </a:rPr>
              <a:t>botones</a:t>
            </a:r>
            <a:r>
              <a:rPr lang="es-CO" dirty="0"/>
              <a:t>. </a:t>
            </a:r>
            <a:r>
              <a:rPr lang="es-C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(Ej. “Nuevo gasto”, “Editar”, “Ir al </a:t>
            </a:r>
            <a:r>
              <a:rPr lang="es-CO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dashboard</a:t>
            </a:r>
            <a:r>
              <a:rPr lang="es-CO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</a:t>
            </a:r>
            <a:r>
              <a:rPr lang="es-CO" dirty="0"/>
              <a:t>)</a:t>
            </a:r>
            <a:r>
              <a:rPr lang="en-US" dirty="0">
                <a:solidFill>
                  <a:srgbClr val="102A43"/>
                </a:solidFill>
              </a:rPr>
              <a:t>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02A43"/>
                </a:solidFill>
              </a:rPr>
              <a:t>Security:  </a:t>
            </a:r>
            <a:r>
              <a:rPr lang="en-US" dirty="0">
                <a:solidFill>
                  <a:srgbClr val="102A43"/>
                </a:solidFill>
              </a:rPr>
              <a:t>Define </a:t>
            </a:r>
            <a:r>
              <a:rPr lang="en-US" dirty="0" err="1">
                <a:solidFill>
                  <a:srgbClr val="102A43"/>
                </a:solidFill>
              </a:rPr>
              <a:t>quien</a:t>
            </a:r>
            <a:r>
              <a:rPr lang="en-US" dirty="0">
                <a:solidFill>
                  <a:srgbClr val="102A43"/>
                </a:solidFill>
              </a:rPr>
              <a:t>  </a:t>
            </a:r>
            <a:r>
              <a:rPr lang="en-US" dirty="0" err="1">
                <a:solidFill>
                  <a:srgbClr val="102A43"/>
                </a:solidFill>
              </a:rPr>
              <a:t>puede</a:t>
            </a:r>
            <a:r>
              <a:rPr lang="en-US" dirty="0">
                <a:solidFill>
                  <a:srgbClr val="102A43"/>
                </a:solidFill>
              </a:rPr>
              <a:t> </a:t>
            </a:r>
            <a:r>
              <a:rPr lang="en-US" dirty="0" err="1">
                <a:solidFill>
                  <a:srgbClr val="102A43"/>
                </a:solidFill>
              </a:rPr>
              <a:t>entrar</a:t>
            </a:r>
            <a:r>
              <a:rPr lang="en-US" dirty="0">
                <a:solidFill>
                  <a:srgbClr val="102A43"/>
                </a:solidFill>
              </a:rPr>
              <a:t>, es </a:t>
            </a:r>
            <a:r>
              <a:rPr lang="en-US" dirty="0" err="1">
                <a:solidFill>
                  <a:srgbClr val="102A43"/>
                </a:solidFill>
              </a:rPr>
              <a:t>decir</a:t>
            </a:r>
            <a:r>
              <a:rPr lang="en-US" dirty="0">
                <a:solidFill>
                  <a:srgbClr val="102A43"/>
                </a:solidFill>
              </a:rPr>
              <a:t> el </a:t>
            </a:r>
            <a:r>
              <a:rPr lang="en-US" dirty="0" err="1">
                <a:solidFill>
                  <a:srgbClr val="102A43"/>
                </a:solidFill>
              </a:rPr>
              <a:t>acceso</a:t>
            </a:r>
            <a:r>
              <a:rPr lang="en-US" dirty="0">
                <a:solidFill>
                  <a:srgbClr val="102A43"/>
                </a:solidFill>
              </a:rPr>
              <a:t> de </a:t>
            </a:r>
            <a:r>
              <a:rPr lang="en-US" dirty="0" err="1">
                <a:solidFill>
                  <a:srgbClr val="102A43"/>
                </a:solidFill>
              </a:rPr>
              <a:t>usuarios</a:t>
            </a:r>
            <a:r>
              <a:rPr lang="en-US" dirty="0">
                <a:solidFill>
                  <a:srgbClr val="102A43"/>
                </a:solidFill>
              </a:rPr>
              <a:t>.</a:t>
            </a:r>
          </a:p>
          <a:p>
            <a:endParaRPr lang="en-US" dirty="0">
              <a:solidFill>
                <a:srgbClr val="102A4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9356FC42-64EC-70B7-46D3-55AEB0716B6E}"/>
              </a:ext>
            </a:extLst>
          </p:cNvPr>
          <p:cNvSpPr/>
          <p:nvPr/>
        </p:nvSpPr>
        <p:spPr>
          <a:xfrm>
            <a:off x="922351" y="4814697"/>
            <a:ext cx="10178465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 err="1">
                <a:solidFill>
                  <a:srgbClr val="102A43"/>
                </a:solidFill>
              </a:rPr>
              <a:t>Settings</a:t>
            </a:r>
            <a:r>
              <a:rPr lang="es-MX" b="1" dirty="0">
                <a:solidFill>
                  <a:srgbClr val="102A43"/>
                </a:solidFill>
              </a:rPr>
              <a:t> : </a:t>
            </a:r>
            <a:r>
              <a:rPr lang="es-MX" sz="1700" dirty="0">
                <a:solidFill>
                  <a:srgbClr val="102A43"/>
                </a:solidFill>
              </a:rPr>
              <a:t>Tema</a:t>
            </a:r>
            <a:r>
              <a:rPr lang="es-MX" b="1" dirty="0">
                <a:solidFill>
                  <a:srgbClr val="102A43"/>
                </a:solidFill>
              </a:rPr>
              <a:t>, </a:t>
            </a:r>
            <a:r>
              <a:rPr lang="es-MX" sz="1700" dirty="0">
                <a:solidFill>
                  <a:srgbClr val="102A43"/>
                </a:solidFill>
              </a:rPr>
              <a:t>colores, nombre, </a:t>
            </a:r>
            <a:r>
              <a:rPr lang="es-MX" sz="1700" dirty="0" err="1">
                <a:solidFill>
                  <a:srgbClr val="102A43"/>
                </a:solidFill>
              </a:rPr>
              <a:t>diioma</a:t>
            </a:r>
            <a:r>
              <a:rPr lang="es-MX" sz="1700" dirty="0">
                <a:solidFill>
                  <a:srgbClr val="102A43"/>
                </a:solidFill>
              </a:rPr>
              <a:t>, sincronización, y configuración general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 err="1">
                <a:solidFill>
                  <a:srgbClr val="102A43"/>
                </a:solidFill>
              </a:rPr>
              <a:t>Manage</a:t>
            </a:r>
            <a:r>
              <a:rPr lang="es-MX" b="1" dirty="0">
                <a:solidFill>
                  <a:srgbClr val="102A43"/>
                </a:solidFill>
              </a:rPr>
              <a:t> : </a:t>
            </a:r>
            <a:r>
              <a:rPr lang="es-MX" sz="1700" dirty="0">
                <a:solidFill>
                  <a:srgbClr val="102A43"/>
                </a:solidFill>
              </a:rPr>
              <a:t>versiones, rendimiento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 err="1">
                <a:solidFill>
                  <a:srgbClr val="102A43"/>
                </a:solidFill>
              </a:rPr>
              <a:t>Intelligence</a:t>
            </a:r>
            <a:r>
              <a:rPr lang="es-MX" b="1" dirty="0">
                <a:solidFill>
                  <a:srgbClr val="102A43"/>
                </a:solidFill>
              </a:rPr>
              <a:t>: </a:t>
            </a:r>
            <a:r>
              <a:rPr lang="es-MX" sz="1700" dirty="0">
                <a:solidFill>
                  <a:srgbClr val="102A43"/>
                </a:solidFill>
              </a:rPr>
              <a:t>Funciones de IA/ML, como reconocimiento de imágenes o predicciones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02A43"/>
                </a:solidFill>
              </a:rPr>
              <a:t>Chat apps: </a:t>
            </a:r>
            <a:r>
              <a:rPr lang="es-MX" sz="1700" dirty="0">
                <a:solidFill>
                  <a:srgbClr val="102A43"/>
                </a:solidFill>
              </a:rPr>
              <a:t>Crear aplicaciones que funcionan dentro de Google Chat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02A43"/>
                </a:solidFill>
              </a:rPr>
              <a:t>Learn: </a:t>
            </a:r>
            <a:r>
              <a:rPr lang="es-MX" sz="1700" dirty="0">
                <a:solidFill>
                  <a:srgbClr val="102A43"/>
                </a:solidFill>
              </a:rPr>
              <a:t>Ayuda y aprendizaje dentro del editor</a:t>
            </a:r>
            <a:endParaRPr lang="en-US" sz="1700" dirty="0">
              <a:solidFill>
                <a:srgbClr val="102A43"/>
              </a:solidFill>
            </a:endParaRPr>
          </a:p>
          <a:p>
            <a:endParaRPr lang="en-US" dirty="0">
              <a:solidFill>
                <a:srgbClr val="102A4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Configurar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DATA</a:t>
            </a:r>
            <a:endParaRPr lang="en-US" sz="2700" dirty="0"/>
          </a:p>
        </p:txBody>
      </p:sp>
      <p:pic>
        <p:nvPicPr>
          <p:cNvPr id="4" name="Image 0" descr="/mnt/data/appsheet_assets/appsheet_data_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62985"/>
            <a:ext cx="5669280" cy="33571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2381250"/>
            <a:ext cx="4937760" cy="289483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6812280" y="1344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A2A43"/>
                </a:solidFill>
              </a:rPr>
              <a:t>Significado</a:t>
            </a:r>
            <a:r>
              <a:rPr lang="en-US" sz="1800" b="1" dirty="0">
                <a:solidFill>
                  <a:srgbClr val="0A2A43"/>
                </a:solidFill>
              </a:rPr>
              <a:t> de </a:t>
            </a:r>
            <a:r>
              <a:rPr lang="en-US" sz="1800" b="1" dirty="0" err="1">
                <a:solidFill>
                  <a:srgbClr val="0A2A43"/>
                </a:solidFill>
              </a:rPr>
              <a:t>los</a:t>
            </a:r>
            <a:r>
              <a:rPr lang="en-US" sz="1800" b="1" dirty="0">
                <a:solidFill>
                  <a:srgbClr val="0A2A43"/>
                </a:solidFill>
              </a:rPr>
              <a:t> </a:t>
            </a:r>
            <a:r>
              <a:rPr lang="en-US" sz="1800" b="1" dirty="0" err="1">
                <a:solidFill>
                  <a:srgbClr val="0A2A43"/>
                </a:solidFill>
              </a:rPr>
              <a:t>controles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12280" y="1691640"/>
            <a:ext cx="4572000" cy="3447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02A43"/>
                </a:solidFill>
              </a:rPr>
              <a:t>KEY: columna única que identifica el registro.</a:t>
            </a:r>
            <a:endParaRPr lang="en-US" sz="14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02A43"/>
                </a:solidFill>
              </a:rPr>
              <a:t>LABEL: texto principal que se ve en listas.</a:t>
            </a:r>
            <a:endParaRPr lang="en-US" sz="14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02A43"/>
                </a:solidFill>
              </a:rPr>
              <a:t>TYPE: tipo de dato: fecha, dinero, lista, texto.</a:t>
            </a:r>
            <a:endParaRPr lang="en-US" sz="14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02A43"/>
                </a:solidFill>
              </a:rPr>
              <a:t>SHOW?: si el usuario lo ve.</a:t>
            </a:r>
            <a:endParaRPr lang="en-US" sz="14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02A43"/>
                </a:solidFill>
              </a:rPr>
              <a:t>EDITABLE?: si lo puede cambiar.</a:t>
            </a:r>
            <a:endParaRPr lang="en-US" sz="142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20" dirty="0">
                <a:solidFill>
                  <a:srgbClr val="102A43"/>
                </a:solidFill>
              </a:rPr>
              <a:t>REQUIRED?: si es obligatorio.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columna: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920240" cy="554355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Tipo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2697480" y="1234440"/>
            <a:ext cx="4754880" cy="554355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Se usa cuando…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7452360" y="1234440"/>
            <a:ext cx="4069080" cy="554355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En este ejercicio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77240" y="1788795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Date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2697480" y="1788795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Se </a:t>
            </a:r>
            <a:r>
              <a:rPr lang="en-US" sz="1220" dirty="0" err="1">
                <a:solidFill>
                  <a:srgbClr val="102A43"/>
                </a:solidFill>
              </a:rPr>
              <a:t>necesita</a:t>
            </a:r>
            <a:r>
              <a:rPr lang="en-US" sz="1220" dirty="0">
                <a:solidFill>
                  <a:srgbClr val="102A43"/>
                </a:solidFill>
              </a:rPr>
              <a:t> una fecha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452360" y="1788795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Fecha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77240" y="2343150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Price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697480" y="2343150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Se </a:t>
            </a:r>
            <a:r>
              <a:rPr lang="en-US" sz="1220" dirty="0" err="1">
                <a:solidFill>
                  <a:srgbClr val="102A43"/>
                </a:solidFill>
              </a:rPr>
              <a:t>va</a:t>
            </a:r>
            <a:r>
              <a:rPr lang="en-US" sz="1220" dirty="0">
                <a:solidFill>
                  <a:srgbClr val="102A43"/>
                </a:solidFill>
              </a:rPr>
              <a:t> a sumar dinero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452360" y="2343150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Valor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77240" y="2897505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Yes/No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2697480" y="2897505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respuesta sí/no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452360" y="2897505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Fijo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77240" y="3451860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Enum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697480" y="3451860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Se elige una opción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452360" y="3451860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Tipo, Categoría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777240" y="4006215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EnumList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2697480" y="4006215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Se eligen varias opciones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452360" y="4006215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no necesario aquí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77240" y="4560570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LongText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697480" y="4560570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 err="1">
                <a:solidFill>
                  <a:srgbClr val="102A43"/>
                </a:solidFill>
              </a:rPr>
              <a:t>Texto</a:t>
            </a:r>
            <a:r>
              <a:rPr lang="en-US" sz="1220" dirty="0">
                <a:solidFill>
                  <a:srgbClr val="102A43"/>
                </a:solidFill>
              </a:rPr>
              <a:t> largo opcional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452360" y="4560570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Observación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77240" y="5114925"/>
            <a:ext cx="192024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Email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2697480" y="5114925"/>
            <a:ext cx="47548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 err="1">
                <a:solidFill>
                  <a:srgbClr val="102A43"/>
                </a:solidFill>
              </a:rPr>
              <a:t>Guardar</a:t>
            </a:r>
            <a:r>
              <a:rPr lang="en-US" sz="1220" dirty="0">
                <a:solidFill>
                  <a:srgbClr val="102A43"/>
                </a:solidFill>
              </a:rPr>
              <a:t> correo del usuario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452360" y="5114925"/>
            <a:ext cx="4069080" cy="554355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Registrado_por</a:t>
            </a:r>
            <a:endParaRPr lang="en-US" sz="12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8889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 automático: para que cada fila sea única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406015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2543175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2A43"/>
                </a:solidFill>
              </a:rPr>
              <a:t>Dónde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90647"/>
            <a:ext cx="4754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Data → Columns → Movimientos → ID_Movimiento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594735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EDF5FF"/>
          </a:solidFill>
          <a:ln w="1397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41832" y="3722751"/>
            <a:ext cx="474573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value: UNIQUEID()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ON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SHOW?: OFF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55080" y="2406015"/>
            <a:ext cx="5074920" cy="2514600"/>
          </a:xfrm>
          <a:prstGeom prst="roundRect">
            <a:avLst>
              <a:gd name="adj" fmla="val 2909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537960" y="2543175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Qué significa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890647"/>
            <a:ext cx="4709160" cy="1892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UNIQUEID() crea un código distinto para cada movimiento.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KEY en ON le dice a AppSheet: esta columna identifica cada fila.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SHOW en OFF evita confundir al usuario.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 automática editable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266825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1403985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A2A43"/>
                </a:solidFill>
              </a:rPr>
              <a:t>Dónde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751457"/>
            <a:ext cx="461772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Data → Columns → Movimientos → Fecha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300097"/>
            <a:ext cx="4937760" cy="1508760"/>
          </a:xfrm>
          <a:prstGeom prst="roundRect">
            <a:avLst>
              <a:gd name="adj" fmla="val 3636"/>
            </a:avLst>
          </a:prstGeom>
          <a:solidFill>
            <a:srgbClr val="EDF5FF"/>
          </a:solidFill>
          <a:ln w="1397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41832" y="2428113"/>
            <a:ext cx="46085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Date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value: TODAY()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Editable?: 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266825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0" y="1403985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Qué significa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751457"/>
            <a:ext cx="5074920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TODAY() llena automáticamente la fecha de hoy.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Editable ON permite cambiarla en el formulario.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Required ON si no se </a:t>
            </a:r>
            <a:r>
              <a:rPr lang="en-US" sz="1700" dirty="0" err="1">
                <a:solidFill>
                  <a:srgbClr val="102A43"/>
                </a:solidFill>
              </a:rPr>
              <a:t>quiere</a:t>
            </a:r>
            <a:r>
              <a:rPr lang="en-US" sz="1700" dirty="0">
                <a:solidFill>
                  <a:srgbClr val="102A43"/>
                </a:solidFill>
              </a:rPr>
              <a:t> guardar registros sin fecha.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828800" y="4930140"/>
            <a:ext cx="8183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194560" y="50673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</a:rPr>
              <a:t>Cuándo editarla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5414772"/>
            <a:ext cx="78181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2A43"/>
                </a:solidFill>
              </a:rPr>
              <a:t>Si hoy se  </a:t>
            </a:r>
            <a:r>
              <a:rPr lang="en-US" sz="1900" dirty="0" err="1">
                <a:solidFill>
                  <a:srgbClr val="102A43"/>
                </a:solidFill>
              </a:rPr>
              <a:t>registra</a:t>
            </a:r>
            <a:r>
              <a:rPr lang="en-US" sz="1900" dirty="0">
                <a:solidFill>
                  <a:srgbClr val="102A43"/>
                </a:solidFill>
              </a:rPr>
              <a:t> el mercado del domingo, se cambia la fecha antes de guardar.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Listas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controladas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Qué son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673352"/>
            <a:ext cx="315468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Campos donde el usuario selecciona una opción en lugar de escribir libremente.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80560" y="1188720"/>
            <a:ext cx="35204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663440" y="1325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Por qué sirven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3440" y="1673352"/>
            <a:ext cx="315468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Hacen que los datos queden limpios y que el dashboard </a:t>
            </a:r>
            <a:r>
              <a:rPr lang="en-US" sz="1550" dirty="0" err="1">
                <a:solidFill>
                  <a:srgbClr val="102A43"/>
                </a:solidFill>
              </a:rPr>
              <a:t>pueda</a:t>
            </a:r>
            <a:r>
              <a:rPr lang="en-US" sz="1550" dirty="0">
                <a:solidFill>
                  <a:srgbClr val="102A43"/>
                </a:solidFill>
              </a:rPr>
              <a:t> </a:t>
            </a:r>
            <a:r>
              <a:rPr lang="en-US" sz="1550" dirty="0" err="1">
                <a:solidFill>
                  <a:srgbClr val="102A43"/>
                </a:solidFill>
              </a:rPr>
              <a:t>operar</a:t>
            </a:r>
            <a:r>
              <a:rPr lang="en-US" sz="1550" dirty="0">
                <a:solidFill>
                  <a:srgbClr val="102A43"/>
                </a:solidFill>
              </a:rPr>
              <a:t> bien.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83880" y="11887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366760" y="132588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Cómo se hacen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6760" y="1673352"/>
            <a:ext cx="288036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Type → Enum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Values → agregar opciones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Input mode → Dropdown o Buttons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154680"/>
            <a:ext cx="219456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Campo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08960" y="3154680"/>
            <a:ext cx="219456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Tipo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0" y="3154680"/>
            <a:ext cx="274320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Modo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46720" y="3154680"/>
            <a:ext cx="3200400" cy="393192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Allow other values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547872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Tipo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108960" y="3547872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Enum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03520" y="3547872"/>
            <a:ext cx="2743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Buttons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0" y="3547872"/>
            <a:ext cx="32004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NO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" y="3941064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Categoría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108960" y="3941064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Enum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0" y="3941064"/>
            <a:ext cx="2743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Dropdown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0" y="3941064"/>
            <a:ext cx="32004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NO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4334256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Concepto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4334256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Enum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03520" y="4334256"/>
            <a:ext cx="2743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Dropdown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46720" y="4334256"/>
            <a:ext cx="32004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SÍ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Frecuencia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108960" y="4727448"/>
            <a:ext cx="21945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Enum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303520" y="4727448"/>
            <a:ext cx="27432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Buttons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046720" y="4727448"/>
            <a:ext cx="320040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02A43"/>
                </a:solidFill>
              </a:rPr>
              <a:t>NO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 other values: qué es y cuándo usarlo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46575"/>
                </a:solidFill>
              </a:rPr>
              <a:t>Permite escribir una opción nueva que no estaba en la lista.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Usarlo en Concepto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73352"/>
            <a:ext cx="475488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Sí conviene. Puede aparecer un gasto nuevo: “veterinaria”, “transporte”, “medicina”.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55080" y="118872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537960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No usarlo en Categoría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673352"/>
            <a:ext cx="475488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No conviene. Si cada una inventa categorías, el dashboard queda desordenado.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315468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Dónde se activa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639312"/>
            <a:ext cx="978408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Data → Columns → Movimientos → Concepto → Type details → Values → Add → activar Allow other values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28800" y="4754880"/>
            <a:ext cx="8458200" cy="77724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011680" y="489204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</a:rPr>
              <a:t>Complemento útil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5239512"/>
            <a:ext cx="809244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Auto-complete other values ayuda a reutilizar textos ya escritos y reduce errores.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Configurar Categoría y Concepto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46575"/>
                </a:solidFill>
              </a:rPr>
              <a:t>Categoría responde “bolsa”. Concepto responde “detalle”.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2103120" cy="77724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Columna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788920" y="1143000"/>
            <a:ext cx="6126480" cy="77724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Valores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15400" y="1143000"/>
            <a:ext cx="2606040" cy="77724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Decisión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Categoría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1920240"/>
            <a:ext cx="6126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Mamá, Hija, Perrita, Gatita, Casa, Urgencias, Ahorros, Imprevistos, Gustos, Entradas adicionales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15400" y="192024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Lista cerrada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2103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Concepto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2697480"/>
            <a:ext cx="6126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Mercado semanal, Arriendo, Concentrado Gatita, Arena Gatita, Servicios, Internet, Medicamentos, Otro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15400" y="2697480"/>
            <a:ext cx="2606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2A43"/>
                </a:solidFill>
              </a:rPr>
              <a:t>Lista abierta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40233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</a:rPr>
              <a:t>Ejemplo correcto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507992"/>
            <a:ext cx="4206240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Categoría: Gatita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Concepto: Arena Gatita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Valor: $45.000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02336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67512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</a:rPr>
              <a:t>Ejemplo correcto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4507992"/>
            <a:ext cx="4206240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Categoría: Casa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Concepto: Mercado semanal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02A43"/>
                </a:solidFill>
              </a:rPr>
              <a:t>Valor: $180.000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formulario: dónde nace el movimiento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46575"/>
                </a:solidFill>
              </a:rPr>
              <a:t>El usuario no escribe en la hoja; llena un formulario en la app.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60120" y="12801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Qué hace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627632"/>
            <a:ext cx="470916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Captura Fecha, Tipo, Categoría, Concepto, Fijo, Frecuencia, Valor y Observación.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11430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92240" y="12801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Cómo se crea o revisa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627632"/>
            <a:ext cx="470916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App / UX → Views → Movimientos_Form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View type: Form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For this data: Movimientos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60120" y="29718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124712" y="312724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24712" y="31958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18488" y="31181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Pulsa +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18488" y="348386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abre el formulario.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4480560" y="29718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645152" y="312724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645152" y="31958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38928" y="31181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Diligencia campos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138928" y="348386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elige listas y valor.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8001000" y="29718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8165592" y="312724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165592" y="319582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59368" y="311810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Guardar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659368" y="348386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crea una fila en Sheets.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1965960" y="4983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2148840" y="51206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</a:rPr>
              <a:t>Movimiento guardado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148840" y="5468112"/>
            <a:ext cx="78638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Al guardar, ya se puede sumar, filtrar y mostrar en el dashboard.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son las Views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2103120" cy="53340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View type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2880360" y="1234440"/>
            <a:ext cx="4754880" cy="53340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Para qué sirve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635240" y="1234440"/>
            <a:ext cx="3794760" cy="53340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En esta app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77240" y="1767840"/>
            <a:ext cx="210312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Form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2880360" y="1767840"/>
            <a:ext cx="475488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capturar datos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7635240" y="1767840"/>
            <a:ext cx="379476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Nuevo movimiento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777240" y="2301240"/>
            <a:ext cx="210312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Table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2880360" y="2301240"/>
            <a:ext cx="475488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ver lista de registros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7635240" y="2301240"/>
            <a:ext cx="379476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Movimientos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210312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Deck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2880360" y="2834640"/>
            <a:ext cx="475488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ver tarjetas más visuales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635240" y="2834640"/>
            <a:ext cx="379476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Gastos recientes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777240" y="3368040"/>
            <a:ext cx="210312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Chart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2880360" y="3368040"/>
            <a:ext cx="475488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mostrar gráficos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7635240" y="3368040"/>
            <a:ext cx="379476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Gastos por categoría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77240" y="3901440"/>
            <a:ext cx="210312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Dashboard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2880360" y="3901440"/>
            <a:ext cx="475488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juntar varias vistas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7635240" y="3901440"/>
            <a:ext cx="379476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02A43"/>
                </a:solidFill>
              </a:rPr>
              <a:t>Mi presupuesto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Vistas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mínimas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5795" y="178689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10387" y="194233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10387" y="201091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04163" y="193319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Nuevo movimiento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04163" y="229895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Form para capturar gasto o entrada.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223635" y="178689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388227" y="194233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388227" y="201091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82003" y="193319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Movimientos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82003" y="229895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Table para revisar lo guardado.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45795" y="361569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10387" y="377113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10387" y="383971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04163" y="376199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Gastos por categoría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304163" y="412775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Chart para sumar Valor agrupado por Categoría.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6223635" y="361569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388227" y="3771138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388227" y="383971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82003" y="3761994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Mi presupuesto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82003" y="412775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Dashboard con gráfico + tabla del mes.</a:t>
            </a:r>
            <a:endParaRPr lang="en-US" sz="12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20090" y="1691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02970" y="1828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Sin Slice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02970" y="2176272"/>
            <a:ext cx="4709160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La vista muestra todos los movimientos: agosto, septiembre, gastos, entradas.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52210" y="1691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35090" y="18288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Con Slice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5090" y="2176272"/>
            <a:ext cx="4709160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La vista muestra solo lo </a:t>
            </a:r>
            <a:r>
              <a:rPr lang="en-US" sz="1700" dirty="0" err="1">
                <a:solidFill>
                  <a:srgbClr val="102A43"/>
                </a:solidFill>
              </a:rPr>
              <a:t>que</a:t>
            </a:r>
            <a:r>
              <a:rPr lang="en-US" sz="1700" dirty="0">
                <a:solidFill>
                  <a:srgbClr val="102A43"/>
                </a:solidFill>
              </a:rPr>
              <a:t> se </a:t>
            </a:r>
            <a:r>
              <a:rPr lang="en-US" sz="1700" dirty="0" err="1">
                <a:solidFill>
                  <a:srgbClr val="102A43"/>
                </a:solidFill>
              </a:rPr>
              <a:t>necesita</a:t>
            </a:r>
            <a:r>
              <a:rPr lang="en-US" sz="1700" dirty="0">
                <a:solidFill>
                  <a:srgbClr val="102A43"/>
                </a:solidFill>
              </a:rPr>
              <a:t>: gastos del mes actual, entradas o gastos fijos.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730752"/>
            <a:ext cx="29260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Data → Slices → New Slice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381250" y="3467100"/>
            <a:ext cx="2103120" cy="50292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Slice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4484370" y="3467100"/>
            <a:ext cx="2377440" cy="50292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Condición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861810" y="3467100"/>
            <a:ext cx="2560320" cy="502920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FFFFFF"/>
                </a:solidFill>
              </a:rPr>
              <a:t>Para qué sirve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2381250" y="397002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Solo Gastos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4484370" y="397002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[Tipo]="Gasto"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861810" y="397002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sumar consumos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381250" y="447294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Solo Entradas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484370" y="447294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[Tipo]="Entrada"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6861810" y="447294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ver dinero recibido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2381250" y="497586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Gastos Mes Actual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4484370" y="4975860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mes y año actuales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861810" y="4975860"/>
            <a:ext cx="2560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102A43"/>
                </a:solidFill>
              </a:rPr>
              <a:t>dashboard mensual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el Slice “Gastos Mes Actual”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01040" y="1741170"/>
            <a:ext cx="4983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83920" y="187833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3920" y="2225802"/>
            <a:ext cx="4617720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Data → Slices → + New Slice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Name: Gastos Mes Actual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Source table: Movimientos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41720" y="174117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EDF5FF"/>
          </a:solidFill>
          <a:ln w="1397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306312" y="1869186"/>
            <a:ext cx="492861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AND(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[Tipo]="Gasto",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MONTH([Fecha])=MONTH(TODAY()),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YEAR([Fecha])=YEAR(TODAY())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97280" y="4160520"/>
            <a:ext cx="9966960" cy="960120"/>
          </a:xfrm>
          <a:prstGeom prst="roundRect">
            <a:avLst>
              <a:gd name="adj" fmla="val 7619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280160" y="4645152"/>
            <a:ext cx="960120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Trae solamente los registros que son gastos y pertenecen al mes actual. No se </a:t>
            </a:r>
            <a:r>
              <a:rPr lang="en-US" sz="1800" dirty="0" err="1">
                <a:solidFill>
                  <a:srgbClr val="102A43"/>
                </a:solidFill>
              </a:rPr>
              <a:t>mezclan</a:t>
            </a:r>
            <a:r>
              <a:rPr lang="en-US" sz="1800" dirty="0">
                <a:solidFill>
                  <a:srgbClr val="102A43"/>
                </a:solidFill>
              </a:rPr>
              <a:t> meses.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son acciones útiles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60120" y="1516380"/>
            <a:ext cx="48006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r>
              <a:rPr lang="es-CO" sz="1600" dirty="0"/>
              <a:t>Son acciones que la aplicación puede hacer cuando el usuario pulsa un botón o cuando ocurre algo, facilitan una tarea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16636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46520" y="12801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Acciones </a:t>
            </a:r>
            <a:r>
              <a:rPr lang="en-US" sz="1800" b="1" dirty="0" err="1">
                <a:solidFill>
                  <a:srgbClr val="0A2A43"/>
                </a:solidFill>
              </a:rPr>
              <a:t>útiles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627632"/>
            <a:ext cx="48006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Nuevo gasto · Nueva entrada · Editar movimiento · Eliminar registro · Abrir dashboard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2743200" cy="42062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Acción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657600" y="3017520"/>
            <a:ext cx="4754880" cy="42062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Cuándo usarla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412480" y="3017520"/>
            <a:ext cx="2834640" cy="42062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Icono sugerido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Nuevo gasto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657600" y="3438144"/>
            <a:ext cx="4754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registrar salida de dinero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8412480" y="3438144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plus / money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914400" y="3858768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Nueva entrada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3657600" y="3858768"/>
            <a:ext cx="4754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registrar dinero recibido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8412480" y="3858768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add / income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914400" y="4279392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Editar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3657600" y="4279392"/>
            <a:ext cx="4754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corregir valor o fecha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8412480" y="4279392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edit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914400" y="4700016"/>
            <a:ext cx="27432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Dashboard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3657600" y="4700016"/>
            <a:ext cx="4754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volver al resumen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8412480" y="4700016"/>
            <a:ext cx="28346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102A43"/>
                </a:solidFill>
              </a:rPr>
              <a:t>chart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Crear botones: Nuevo gasto y Nueva entrada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6012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673352"/>
            <a:ext cx="39319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Behavior → Actions → + New Action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32120" y="1188720"/>
            <a:ext cx="5897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715000" y="1325880"/>
            <a:ext cx="5532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A2A43"/>
                </a:solidFill>
              </a:rPr>
              <a:t>Configuración común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0" y="1673352"/>
            <a:ext cx="553212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For a record of this table: Movimientos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Do this: App: go to another view within this app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02A43"/>
                </a:solidFill>
              </a:rPr>
              <a:t>Prominence: Display prominently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A2A43"/>
                </a:solidFill>
              </a:rPr>
              <a:t>Nuevo gasto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364992"/>
            <a:ext cx="4389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Display name: Nuevo gasto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Icon: plus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Target: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840480"/>
            <a:ext cx="4663440" cy="868680"/>
          </a:xfrm>
          <a:prstGeom prst="roundRect">
            <a:avLst>
              <a:gd name="adj" fmla="val 6316"/>
            </a:avLst>
          </a:prstGeom>
          <a:solidFill>
            <a:srgbClr val="EDF5FF"/>
          </a:solidFill>
          <a:ln w="1397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33272" y="3968496"/>
            <a:ext cx="4334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LINKTOFORM("Movimientos_Form",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"Tipo","Gasto")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28803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29400" y="3017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A2A43"/>
                </a:solidFill>
              </a:rPr>
              <a:t>Nueva entrada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29400" y="3364992"/>
            <a:ext cx="438912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Display name: Nueva entrada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Icon: add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02A43"/>
                </a:solidFill>
              </a:rPr>
              <a:t>Target: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92240" y="3840480"/>
            <a:ext cx="4663440" cy="1005840"/>
          </a:xfrm>
          <a:prstGeom prst="roundRect">
            <a:avLst>
              <a:gd name="adj" fmla="val 5455"/>
            </a:avLst>
          </a:prstGeom>
          <a:solidFill>
            <a:srgbClr val="EDF5FF"/>
          </a:solidFill>
          <a:ln w="1397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656832" y="3968496"/>
            <a:ext cx="43342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LINKTOFORM("Movimientos_Form",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"Tipo","Entrada",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28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"Categoria","Entradas adicionales")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formato: color e icono por condición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0B5CAD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48006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40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App / UX → Format Rules → + New Rule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Ejemplo: Urgencias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770632"/>
            <a:ext cx="4800600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For this data: Movimientos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Condition: [Categoria]="Urgencias"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Icon: buscar warning / alert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Text color o color: azul oscuro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309360" y="1143000"/>
            <a:ext cx="5166360" cy="1737360"/>
          </a:xfrm>
          <a:prstGeom prst="roundRect">
            <a:avLst>
              <a:gd name="adj" fmla="val 4211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92240" y="128016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Cómo buscar el icono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1627632"/>
            <a:ext cx="480060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En Action icon o Format icon abre el selector de iconos y escribe una palabra: warning, home, savings, pet, money. Si no aparece exacto, usa uno cercano.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3337560"/>
            <a:ext cx="1645920" cy="402336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Categoría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3337560"/>
            <a:ext cx="1737360" cy="402336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Icono sugerido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2640" y="3337560"/>
            <a:ext cx="1783080" cy="402336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Uso visual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3739896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Urgencias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3739896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warning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92640" y="3739896"/>
            <a:ext cx="1783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alerta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4142232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Casa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55280" y="4142232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home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92640" y="4142232"/>
            <a:ext cx="1783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hogar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4544568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Ahorros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0" y="4544568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savings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92640" y="4544568"/>
            <a:ext cx="1783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reserva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09360" y="4946904"/>
            <a:ext cx="16459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Gatita / Perrita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55280" y="4946904"/>
            <a:ext cx="173736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pets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92640" y="4946904"/>
            <a:ext cx="17830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02A43"/>
                </a:solidFill>
              </a:rPr>
              <a:t>mascotas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Dashboard: consumo del mes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3890" y="1503045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8482" y="1658493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08482" y="172707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02258" y="1649349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Chart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02258" y="2015109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Gastos por categoría basado en Gastos Mes Actual.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4392930" y="1503045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57522" y="1658493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57522" y="172707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51298" y="1649349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Table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51298" y="2015109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Movimientos del mes para revisar detalle.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8141970" y="1503045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  <a:effectLst>
            <a:outerShdw blurRad="19050" dist="7620" dir="2700000" algn="bl" rotWithShape="0">
              <a:srgbClr val="D9E6F5">
                <a:alpha val="13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306562" y="1658493"/>
            <a:ext cx="384048" cy="384048"/>
          </a:xfrm>
          <a:prstGeom prst="ellipse">
            <a:avLst/>
          </a:prstGeom>
          <a:solidFill>
            <a:srgbClr val="0B5CAD"/>
          </a:solidFill>
          <a:ln w="12700">
            <a:solidFill>
              <a:srgbClr val="0B5C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306562" y="1727073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00338" y="1649349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A2A43"/>
                </a:solidFill>
              </a:rPr>
              <a:t>Dashboard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00338" y="2015109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</a:rPr>
              <a:t>Une gráfico + tabla en una sola pantalla.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918210" y="3651885"/>
            <a:ext cx="996696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101090" y="3789045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Cómo hacerlo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1090" y="4136517"/>
            <a:ext cx="960120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App / UX → Views → New View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Name: Mi presupuesto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View type: Dashboard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Views incluidas: Gastos por categoría + Movimientos del mes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Compartir con contraseña: mamá e hija únicamente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“</a:t>
            </a:r>
            <a:r>
              <a:rPr lang="en-US" b="1" dirty="0">
                <a:solidFill>
                  <a:srgbClr val="0A2A43"/>
                </a:solidFill>
              </a:rPr>
              <a:t>C</a:t>
            </a:r>
            <a:r>
              <a:rPr lang="en-US" sz="1800" b="1" dirty="0">
                <a:solidFill>
                  <a:srgbClr val="0A2A43"/>
                </a:solidFill>
              </a:rPr>
              <a:t>on contraseña”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4937760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2A43"/>
                </a:solidFill>
              </a:rPr>
              <a:t>Cada </a:t>
            </a:r>
            <a:r>
              <a:rPr lang="en-US" sz="1650" dirty="0" err="1">
                <a:solidFill>
                  <a:srgbClr val="102A43"/>
                </a:solidFill>
              </a:rPr>
              <a:t>usuario</a:t>
            </a:r>
            <a:r>
              <a:rPr lang="en-US" sz="1650" dirty="0">
                <a:solidFill>
                  <a:srgbClr val="102A43"/>
                </a:solidFill>
              </a:rPr>
              <a:t> entra con su cuenta autorizada y la contraseña de esa </a:t>
            </a:r>
            <a:r>
              <a:rPr lang="en-US" sz="1650" dirty="0" err="1">
                <a:solidFill>
                  <a:srgbClr val="102A43"/>
                </a:solidFill>
              </a:rPr>
              <a:t>cuenta</a:t>
            </a:r>
            <a:r>
              <a:rPr lang="en-US" sz="1650" dirty="0">
                <a:solidFill>
                  <a:srgbClr val="102A43"/>
                </a:solidFill>
              </a:rPr>
              <a:t>. Si alguien no está invitado, no debe poder abrir la app.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166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92240" y="13258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Pasos de seguridad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1673352"/>
            <a:ext cx="4800600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Security → Require Sign-In → 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Allow all signed-in users → OFF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Share app → agregar solo 2 correos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02A43"/>
                </a:solidFill>
              </a:rPr>
              <a:t>Enviar enlace solo a esos correos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7490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68680" y="3886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A2A43"/>
                </a:solidFill>
              </a:rPr>
              <a:t>Si </a:t>
            </a:r>
            <a:r>
              <a:rPr lang="en-US" sz="1700" b="1" dirty="0" err="1">
                <a:solidFill>
                  <a:srgbClr val="0A2A43"/>
                </a:solidFill>
              </a:rPr>
              <a:t>todos</a:t>
            </a:r>
            <a:r>
              <a:rPr lang="en-US" sz="1700" b="1" dirty="0">
                <a:solidFill>
                  <a:srgbClr val="0A2A43"/>
                </a:solidFill>
              </a:rPr>
              <a:t>  </a:t>
            </a:r>
            <a:r>
              <a:rPr lang="en-US" sz="1700" b="1" dirty="0" err="1">
                <a:solidFill>
                  <a:srgbClr val="0A2A43"/>
                </a:solidFill>
              </a:rPr>
              <a:t>ven</a:t>
            </a:r>
            <a:r>
              <a:rPr lang="en-US" sz="1700" b="1" dirty="0">
                <a:solidFill>
                  <a:srgbClr val="0A2A43"/>
                </a:solidFill>
              </a:rPr>
              <a:t> todo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233672"/>
            <a:ext cx="4937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02A43"/>
                </a:solidFill>
              </a:rPr>
              <a:t>No se </a:t>
            </a:r>
            <a:r>
              <a:rPr lang="en-US" sz="1700" dirty="0" err="1">
                <a:solidFill>
                  <a:srgbClr val="102A43"/>
                </a:solidFill>
              </a:rPr>
              <a:t>usa</a:t>
            </a:r>
            <a:r>
              <a:rPr lang="en-US" sz="1700" dirty="0">
                <a:solidFill>
                  <a:srgbClr val="102A43"/>
                </a:solidFill>
              </a:rPr>
              <a:t> filtro por usuario. Solo restringe el acceso a las dos cuentas.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09360" y="374904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92240" y="388620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A2A43"/>
                </a:solidFill>
              </a:rPr>
              <a:t>Si </a:t>
            </a:r>
            <a:r>
              <a:rPr lang="en-US" sz="1700" b="1" dirty="0" err="1">
                <a:solidFill>
                  <a:srgbClr val="0A2A43"/>
                </a:solidFill>
              </a:rPr>
              <a:t>cada</a:t>
            </a:r>
            <a:r>
              <a:rPr lang="en-US" sz="1700" b="1" dirty="0">
                <a:solidFill>
                  <a:srgbClr val="0A2A43"/>
                </a:solidFill>
              </a:rPr>
              <a:t> uno ve lo suyo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4233672"/>
            <a:ext cx="48006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Usa Registrado_por = USEREMAIL() y Security Filter.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En este ejercicio: ambas pueden ver todo.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</a:t>
            </a: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00" b="1" dirty="0" err="1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mínima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280160" cy="46634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Registro de prueba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1965960" y="1234440"/>
            <a:ext cx="1828800" cy="46634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Tipo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3794760" y="1234440"/>
            <a:ext cx="2377440" cy="46634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Categoría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172200" y="1234440"/>
            <a:ext cx="3474720" cy="46634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Concepto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646920" y="1234440"/>
            <a:ext cx="1874520" cy="466344"/>
          </a:xfrm>
          <a:prstGeom prst="rect">
            <a:avLst/>
          </a:prstGeom>
          <a:solidFill>
            <a:srgbClr val="0B5CAD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Valor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1700784"/>
            <a:ext cx="12801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1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965960" y="1700784"/>
            <a:ext cx="182880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Gasto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794760" y="1700784"/>
            <a:ext cx="237744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Casa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172200" y="1700784"/>
            <a:ext cx="34747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Arriendo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646920" y="1700784"/>
            <a:ext cx="18745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$1.200.000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85800" y="2167128"/>
            <a:ext cx="12801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2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965960" y="2167128"/>
            <a:ext cx="182880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Gasto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794760" y="2167128"/>
            <a:ext cx="237744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Gatita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6172200" y="2167128"/>
            <a:ext cx="34747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Arena Gatita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9646920" y="2167128"/>
            <a:ext cx="18745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$45.000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85800" y="2633472"/>
            <a:ext cx="12801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3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965960" y="2633472"/>
            <a:ext cx="182880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Gasto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3794760" y="2633472"/>
            <a:ext cx="237744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Casa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172200" y="2633472"/>
            <a:ext cx="34747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Mercado semanal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9646920" y="2633472"/>
            <a:ext cx="18745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$180.000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85800" y="3099816"/>
            <a:ext cx="128016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4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1965960" y="3099816"/>
            <a:ext cx="182880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Entrada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3794760" y="3099816"/>
            <a:ext cx="237744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Entradas adicionales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172200" y="3099816"/>
            <a:ext cx="34747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Clase extra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646920" y="3099816"/>
            <a:ext cx="1874520" cy="466344"/>
          </a:xfrm>
          <a:prstGeom prst="rect">
            <a:avLst/>
          </a:prstGeom>
          <a:solidFill>
            <a:srgbClr val="FFFFFF"/>
          </a:solidFill>
          <a:ln w="9525">
            <a:solidFill>
              <a:srgbClr val="9BC4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02A43"/>
                </a:solidFill>
              </a:rPr>
              <a:t>$250.000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1097280" y="4069080"/>
            <a:ext cx="996696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1280160" y="420624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Revisar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553712"/>
            <a:ext cx="960120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¿Se guardan en Sheets?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¿La fecha se puede editar?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¿El gráfico suma por categoría?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¿Solo entran mamá e hija?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A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Lista final de verificación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19072"/>
            <a:ext cx="297180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Archivo y hoja creados.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Columnas limpias.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ID automático.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Fecha automática editable.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617720" y="1371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Formulario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1719072"/>
            <a:ext cx="297180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Tipo, Categoría, Concepto y Valor funcionando.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Listas controladas configuradas.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Concepto permite otros valores.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138160" y="123444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321040" y="13716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Análisis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1719072"/>
            <a:ext cx="2971800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Slices creados.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Chart por categoría.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02A43"/>
                </a:solidFill>
              </a:rPr>
              <a:t>Dashboard mensual listo.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240280" y="3977640"/>
            <a:ext cx="7726680" cy="1143000"/>
          </a:xfrm>
          <a:prstGeom prst="roundRect">
            <a:avLst>
              <a:gd name="adj" fmla="val 6400"/>
            </a:avLst>
          </a:prstGeom>
          <a:solidFill>
            <a:srgbClr val="EAF4FF"/>
          </a:solidFill>
          <a:ln w="12700">
            <a:solidFill>
              <a:srgbClr val="B9D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23160" y="4114800"/>
            <a:ext cx="7360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2A43"/>
                </a:solidFill>
              </a:rPr>
              <a:t>Seguridad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423160" y="4462272"/>
            <a:ext cx="7360920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Require Sign-In 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Allow all signed-in users OFF.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02A43"/>
                </a:solidFill>
              </a:rPr>
              <a:t>Compartida solo con mamá e hija.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5B6B7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2001</Words>
  <Application>Microsoft Office PowerPoint</Application>
  <PresentationFormat>Panorámica</PresentationFormat>
  <Paragraphs>502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AppSheet: Presupuesto Familiar</dc:title>
  <dc:subject>AppSheet - Presupuesto Familiar paso a paso</dc:subject>
  <dc:creator>ChatGPT</dc:creator>
  <cp:lastModifiedBy>Cielo Gilma Viviana Rojas Torres</cp:lastModifiedBy>
  <cp:revision>3</cp:revision>
  <dcterms:created xsi:type="dcterms:W3CDTF">2026-09-08T20:57:55Z</dcterms:created>
  <dcterms:modified xsi:type="dcterms:W3CDTF">2026-09-08T23:41:23Z</dcterms:modified>
</cp:coreProperties>
</file>